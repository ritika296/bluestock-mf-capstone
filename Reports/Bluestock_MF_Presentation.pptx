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NAV</c:v>
                </c:pt>
              </c:strCache>
            </c:strRef>
          </c:tx>
          <c:spPr>
            <a:solidFill>
              <a:srgbClr val="1F7A5C"/>
            </a:solidFill>
            <a:ln w="31750" cap="flat">
              <a:solidFill>
                <a:srgbClr val="1F7A5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F7A5C"/>
              </a:solidFill>
              <a:ln w="9525" cap="flat">
                <a:solidFill>
                  <a:srgbClr val="1F7A5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3180</c:v>
                </c:pt>
                <c:pt idx="1">
                  <c:v>3580</c:v>
                </c:pt>
                <c:pt idx="2">
                  <c:v>3850</c:v>
                </c:pt>
                <c:pt idx="3">
                  <c:v>3960</c:v>
                </c:pt>
                <c:pt idx="4">
                  <c:v>4280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SBI Mutual Fund</c:v>
                </c:pt>
              </c:strCache>
            </c:strRef>
          </c:tx>
          <c:spPr>
            <a:solidFill>
              <a:srgbClr val="1329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6.1</c:v>
                </c:pt>
                <c:pt idx="1">
                  <c:v>7.8</c:v>
                </c:pt>
                <c:pt idx="2">
                  <c:v>10.6</c:v>
                </c:pt>
                <c:pt idx="3">
                  <c:v>12.5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ICICI Prudential</c:v>
                </c:pt>
              </c:strCache>
            </c:strRef>
          </c:tx>
          <c:spPr>
            <a:solidFill>
              <a:srgbClr val="C9A2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4.7</c:v>
                </c:pt>
                <c:pt idx="1">
                  <c:v>5.5</c:v>
                </c:pt>
                <c:pt idx="2">
                  <c:v>7.8</c:v>
                </c:pt>
                <c:pt idx="3">
                  <c:v>9.6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HDFC Mutual Fund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4.4</c:v>
                </c:pt>
                <c:pt idx="1">
                  <c:v>5</c:v>
                </c:pt>
                <c:pt idx="2">
                  <c:v>7.1</c:v>
                </c:pt>
                <c:pt idx="3">
                  <c:v>8.8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3294B"/>
              </a:solidFill>
              <a:effectLst/>
            </c:spPr>
          </c:dPt>
          <c:dPt>
            <c:idx val="1"/>
            <c:bubble3D val="0"/>
            <c:spPr>
              <a:solidFill>
                <a:srgbClr val="C9A24B"/>
              </a:solidFill>
              <a:effectLst/>
            </c:spPr>
          </c:dPt>
          <c:dPt>
            <c:idx val="2"/>
            <c:bubble3D val="0"/>
            <c:spPr>
              <a:solidFill>
                <a:srgbClr val="CADCFC"/>
              </a:solidFill>
              <a:effectLst/>
            </c:spPr>
          </c:dPt>
          <c:dPt>
            <c:idx val="3"/>
            <c:bubble3D val="0"/>
            <c:spPr>
              <a:solidFill>
                <a:srgbClr val="8FA6C2"/>
              </a:solidFill>
              <a:effectLst/>
            </c:spPr>
          </c:dPt>
          <c:dPt>
            <c:idx val="4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26-35</c:v>
                </c:pt>
                <c:pt idx="1">
                  <c:v>36-45</c:v>
                </c:pt>
                <c:pt idx="2">
                  <c:v>18-25</c:v>
                </c:pt>
                <c:pt idx="3">
                  <c:v>46-55</c:v>
                </c:pt>
                <c:pt idx="4">
                  <c:v>56+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41.1</c:v>
                </c:pt>
                <c:pt idx="1">
                  <c:v>24.9</c:v>
                </c:pt>
                <c:pt idx="2">
                  <c:v>15</c:v>
                </c:pt>
                <c:pt idx="3">
                  <c:v>11.5</c:v>
                </c:pt>
                <c:pt idx="4">
                  <c:v>7.5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Investors</c:v>
                </c:pt>
              </c:strCache>
            </c:strRef>
          </c:tx>
          <c:spPr>
            <a:solidFill>
              <a:srgbClr val="C9A2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3294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Female</c:v>
                  </c:pt>
                  <c:pt idx="1">
                    <c:v>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11000</c:v>
                </c:pt>
                <c:pt idx="1">
                  <c:v>21800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3294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Inflow</c:v>
                </c:pt>
              </c:strCache>
            </c:strRef>
          </c:tx>
          <c:spPr>
            <a:solidFill>
              <a:srgbClr val="1329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Liquid</c:v>
                  </c:pt>
                  <c:pt idx="1">
                    <c:v>Sectoral/
Thematic</c:v>
                  </c:pt>
                  <c:pt idx="2">
                    <c:v>Large &amp;
Mid Cap</c:v>
                  </c:pt>
                  <c:pt idx="3">
                    <c:v>Mid Cap</c:v>
                  </c:pt>
                  <c:pt idx="4">
                    <c:v>Short
Duration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451275</c:v>
                </c:pt>
                <c:pt idx="1">
                  <c:v>103829</c:v>
                </c:pt>
                <c:pt idx="2">
                  <c:v>57752</c:v>
                </c:pt>
                <c:pt idx="3">
                  <c:v>55312</c:v>
                </c:pt>
                <c:pt idx="4">
                  <c:v>55530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Fund Score</c:v>
                </c:pt>
              </c:strCache>
            </c:strRef>
          </c:tx>
          <c:spPr>
            <a:solidFill>
              <a:srgbClr val="C9A2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3294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ICICI Pru
Midcap</c:v>
                  </c:pt>
                  <c:pt idx="1">
                    <c:v>HDFC Mid-Cap
Opportunities</c:v>
                  </c:pt>
                  <c:pt idx="2">
                    <c:v>Kotak
Flexicap</c:v>
                  </c:pt>
                  <c:pt idx="3">
                    <c:v>Mirae Asset
Large Cap</c:v>
                  </c:pt>
                  <c:pt idx="4">
                    <c:v>DSP
Midcap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80.4</c:v>
                </c:pt>
                <c:pt idx="1">
                  <c:v>76.3</c:v>
                </c:pt>
                <c:pt idx="2">
                  <c:v>74.1</c:v>
                </c:pt>
                <c:pt idx="3">
                  <c:v>71</c:v>
                </c:pt>
                <c:pt idx="4">
                  <c:v>68.2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3294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Scheme A</c:v>
                </c:pt>
              </c:strCache>
            </c:strRef>
          </c:tx>
          <c:spPr>
            <a:solidFill>
              <a:srgbClr val="13294B"/>
            </a:solidFill>
            <a:ln w="25400" cap="flat">
              <a:solidFill>
                <a:srgbClr val="1329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3294B"/>
              </a:solidFill>
              <a:ln w="9525" cap="flat">
                <a:solidFill>
                  <a:srgbClr val="1329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2022-07</c:v>
                  </c:pt>
                  <c:pt idx="1">
                    <c:v>2023-01</c:v>
                  </c:pt>
                  <c:pt idx="2">
                    <c:v>2023-07</c:v>
                  </c:pt>
                  <c:pt idx="3">
                    <c:v>2024-01</c:v>
                  </c:pt>
                  <c:pt idx="4">
                    <c:v>2024-07</c:v>
                  </c:pt>
                  <c:pt idx="5">
                    <c:v>2025-01</c:v>
                  </c:pt>
                  <c:pt idx="6">
                    <c:v>2025-07</c:v>
                  </c:pt>
                  <c:pt idx="7">
                    <c:v>2026-01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0.8</c:v>
                </c:pt>
                <c:pt idx="1">
                  <c:v>-2.1</c:v>
                </c:pt>
                <c:pt idx="2">
                  <c:v>1.5</c:v>
                </c:pt>
                <c:pt idx="3">
                  <c:v>3.2</c:v>
                </c:pt>
                <c:pt idx="4">
                  <c:v>0.5</c:v>
                </c:pt>
                <c:pt idx="5">
                  <c:v>2</c:v>
                </c:pt>
                <c:pt idx="6">
                  <c:v>4.5</c:v>
                </c:pt>
                <c:pt idx="7">
                  <c:v>-1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Scheme B</c:v>
                </c:pt>
              </c:strCache>
            </c:strRef>
          </c:tx>
          <c:spPr>
            <a:solidFill>
              <a:srgbClr val="C9A24B"/>
            </a:solidFill>
            <a:ln w="25400" cap="flat">
              <a:solidFill>
                <a:srgbClr val="C9A2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9A24B"/>
              </a:solidFill>
              <a:ln w="9525" cap="flat">
                <a:solidFill>
                  <a:srgbClr val="C9A2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2022-07</c:v>
                  </c:pt>
                  <c:pt idx="1">
                    <c:v>2023-01</c:v>
                  </c:pt>
                  <c:pt idx="2">
                    <c:v>2023-07</c:v>
                  </c:pt>
                  <c:pt idx="3">
                    <c:v>2024-01</c:v>
                  </c:pt>
                  <c:pt idx="4">
                    <c:v>2024-07</c:v>
                  </c:pt>
                  <c:pt idx="5">
                    <c:v>2025-01</c:v>
                  </c:pt>
                  <c:pt idx="6">
                    <c:v>2025-07</c:v>
                  </c:pt>
                  <c:pt idx="7">
                    <c:v>2026-01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-1.2</c:v>
                </c:pt>
                <c:pt idx="1">
                  <c:v>1</c:v>
                </c:pt>
                <c:pt idx="2">
                  <c:v>-0.3</c:v>
                </c:pt>
                <c:pt idx="3">
                  <c:v>2.5</c:v>
                </c:pt>
                <c:pt idx="4">
                  <c:v>-1.8</c:v>
                </c:pt>
                <c:pt idx="5">
                  <c:v>1.2</c:v>
                </c:pt>
                <c:pt idx="6">
                  <c:v>6.5</c:v>
                </c:pt>
                <c:pt idx="7">
                  <c:v>-1.8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AUM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7.8</c:v>
                </c:pt>
                <c:pt idx="2">
                  <c:v>14</c:v>
                </c:pt>
                <c:pt idx="3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AUM</c:v>
                </c:pt>
              </c:strCache>
            </c:strRef>
          </c:tx>
          <c:spPr>
            <a:solidFill>
              <a:srgbClr val="1329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SBI MF</c:v>
                  </c:pt>
                  <c:pt idx="1">
                    <c:v>ICICI Pru MF</c:v>
                  </c:pt>
                  <c:pt idx="2">
                    <c:v>HDFC MF</c:v>
                  </c:pt>
                  <c:pt idx="3">
                    <c:v>Nippon India</c:v>
                  </c:pt>
                  <c:pt idx="4">
                    <c:v>Kotak Mahindra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12.5</c:v>
                </c:pt>
                <c:pt idx="1">
                  <c:v>9.6</c:v>
                </c:pt>
                <c:pt idx="2">
                  <c:v>8.8</c:v>
                </c:pt>
                <c:pt idx="3">
                  <c:v>6.5</c:v>
                </c:pt>
                <c:pt idx="4">
                  <c:v>5.4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Txn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3294B"/>
              </a:solidFill>
              <a:effectLst/>
            </c:spPr>
          </c:dPt>
          <c:dPt>
            <c:idx val="1"/>
            <c:bubble3D val="0"/>
            <c:spPr>
              <a:solidFill>
                <a:srgbClr val="C9A24B"/>
              </a:solidFill>
              <a:effectLst/>
            </c:spPr>
          </c:dPt>
          <c:dPt>
            <c:idx val="2"/>
            <c:bubble3D val="0"/>
            <c:spPr>
              <a:solidFill>
                <a:srgbClr val="CADCF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SIP</c:v>
                </c:pt>
                <c:pt idx="1">
                  <c:v>Lumpsum</c:v>
                </c:pt>
                <c:pt idx="2">
                  <c:v>Redemption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58.49</c:v>
                </c:pt>
                <c:pt idx="1">
                  <c:v>35.34</c:v>
                </c:pt>
                <c:pt idx="2">
                  <c:v>6.17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Investment (₹ Bn)</c:v>
                </c:pt>
              </c:strCache>
            </c:strRef>
          </c:tx>
          <c:spPr>
            <a:solidFill>
              <a:srgbClr val="C9A2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26-35</c:v>
                  </c:pt>
                  <c:pt idx="1">
                    <c:v>36-45</c:v>
                  </c:pt>
                  <c:pt idx="2">
                    <c:v>18-25</c:v>
                  </c:pt>
                  <c:pt idx="3">
                    <c:v>46-55</c:v>
                  </c:pt>
                  <c:pt idx="4">
                    <c:v>56+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1.85</c:v>
                </c:pt>
                <c:pt idx="1">
                  <c:v>1.4</c:v>
                </c:pt>
                <c:pt idx="2">
                  <c:v>0.65</c:v>
                </c:pt>
                <c:pt idx="3">
                  <c:v>0.55</c:v>
                </c:pt>
                <c:pt idx="4">
                  <c:v>0.4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SIP Inflow</c:v>
                </c:pt>
              </c:strCache>
            </c:strRef>
          </c:tx>
          <c:spPr>
            <a:solidFill>
              <a:srgbClr val="13294B"/>
            </a:solidFill>
            <a:ln w="31750" cap="flat">
              <a:solidFill>
                <a:srgbClr val="1329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3294B"/>
              </a:solidFill>
              <a:ln w="9525" cap="flat">
                <a:solidFill>
                  <a:srgbClr val="1329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Mar</c:v>
                  </c:pt>
                  <c:pt idx="2">
                    <c:v>May</c:v>
                  </c:pt>
                  <c:pt idx="3">
                    <c:v>Jul</c:v>
                  </c:pt>
                  <c:pt idx="4">
                    <c:v>Sep</c:v>
                  </c:pt>
                  <c:pt idx="5">
                    <c:v>Nov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29</c:v>
                </c:pt>
                <c:pt idx="1">
                  <c:v>31</c:v>
                </c:pt>
                <c:pt idx="2">
                  <c:v>33</c:v>
                </c:pt>
                <c:pt idx="3">
                  <c:v>30</c:v>
                </c:pt>
                <c:pt idx="4">
                  <c:v>32</c:v>
                </c:pt>
                <c:pt idx="5">
                  <c:v>34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image" Target="../media/image-6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chart" Target="/ppt/charts/chart11.xml"/><Relationship Id="rId3" Type="http://schemas.openxmlformats.org/officeDocument/2006/relationships/chart" Target="/ppt/charts/chart12.xml"/><Relationship Id="rId4" Type="http://schemas.openxmlformats.org/officeDocument/2006/relationships/image" Target="../media/image-10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011680"/>
            <a:ext cx="6400800" cy="6400800"/>
          </a:xfrm>
          <a:prstGeom prst="ellipse">
            <a:avLst/>
          </a:prstGeom>
          <a:solidFill>
            <a:srgbClr val="1E3A5F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206240"/>
            <a:ext cx="5486400" cy="5486400"/>
          </a:xfrm>
          <a:prstGeom prst="ellipse">
            <a:avLst/>
          </a:prstGeom>
          <a:solidFill>
            <a:srgbClr val="1E3A5F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80650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331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 CAPSTONE  •  BLUESTOCK FINTECH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26974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Bluestock Mutual Fund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Capstone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40080" y="43434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Mutual Fund Analytics using Python &amp; Power BI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40080" y="5074920"/>
            <a:ext cx="292608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2578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Ritika Prakash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 Intern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 Bluestock Fintech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6309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Pandas  •  NumPy  •  Power BI  •  SQLite  •  GitHub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FRAMING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48056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19595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745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514600"/>
            <a:ext cx="4800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funds generate massive daily volumes of NAV, transaction, and SIP data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 of this scale is slow and error-prone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houses need a single system to evaluate performance, risk, and investor behaviour together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554480"/>
            <a:ext cx="5422392" cy="4480560"/>
          </a:xfrm>
          <a:prstGeom prst="rect">
            <a:avLst/>
          </a:prstGeom>
          <a:solidFill>
            <a:srgbClr val="13294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828800"/>
            <a:ext cx="502920" cy="50292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719" y="195955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8745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37960" y="2514600"/>
            <a:ext cx="4800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Python ETL pipeline for clean, analysis-ready data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Exploratory Data Analysis to uncover trends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CAGR, Sharpe, Sortino, Alpha, Beta &amp; more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interactive Power BI dashboard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actionable business recommendations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 Capstone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 &amp; Tools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03170" cy="141732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76200" dist="19050" dir="27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764792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330" y="1859890"/>
            <a:ext cx="175565" cy="1755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221992"/>
            <a:ext cx="21739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Master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13232" y="2532888"/>
            <a:ext cx="2173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Scheme, AMC &amp; category reference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80410" y="1600200"/>
            <a:ext cx="2503170" cy="141732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76200" dist="19050" dir="270000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45002" y="1764792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0100" y="1859890"/>
            <a:ext cx="175565" cy="1755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45002" y="2221992"/>
            <a:ext cx="21739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History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445002" y="2532888"/>
            <a:ext cx="2173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NAV, 2022–2026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012180" y="1600200"/>
            <a:ext cx="2503170" cy="141732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76200" dist="19050" dir="2700000">
              <a:srgbClr val="000000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76772" y="1764792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870" y="1859890"/>
            <a:ext cx="175565" cy="1755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76772" y="2221992"/>
            <a:ext cx="21739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Data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176772" y="2532888"/>
            <a:ext cx="2173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AMC-wise assets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8743950" y="1600200"/>
            <a:ext cx="2503170" cy="141732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76200" dist="19050" dir="2700000">
              <a:srgbClr val="000000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08542" y="1764792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3640" y="1859890"/>
            <a:ext cx="175565" cy="1755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08542" y="2221992"/>
            <a:ext cx="21739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SIP Inflows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8908542" y="2532888"/>
            <a:ext cx="2173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contributions &amp; growth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48640" y="3246120"/>
            <a:ext cx="2503170" cy="141732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76200" dist="19050" dir="2700000">
              <a:srgbClr val="000000">
                <a:alpha val="7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13232" y="3410712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330" y="3505810"/>
            <a:ext cx="175565" cy="17556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3232" y="3867912"/>
            <a:ext cx="21739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Inflows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713232" y="4178808"/>
            <a:ext cx="2173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inflow by fund category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280410" y="3246120"/>
            <a:ext cx="2503170" cy="141732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76200" dist="19050" dir="2700000">
              <a:srgbClr val="000000">
                <a:alpha val="7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445002" y="3410712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0100" y="3505810"/>
            <a:ext cx="175565" cy="17556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445002" y="3867912"/>
            <a:ext cx="21739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Folios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3445002" y="4178808"/>
            <a:ext cx="2173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account growth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012180" y="3246120"/>
            <a:ext cx="2503170" cy="141732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76200" dist="19050" dir="2700000">
              <a:srgbClr val="000000">
                <a:alpha val="7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176772" y="3410712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1870" y="3505810"/>
            <a:ext cx="175565" cy="17556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176772" y="3867912"/>
            <a:ext cx="21739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Transactions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6176772" y="4178808"/>
            <a:ext cx="2173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&amp; behaviour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8743950" y="3246120"/>
            <a:ext cx="2503170" cy="141732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76200" dist="19050" dir="2700000">
              <a:srgbClr val="000000">
                <a:alpha val="7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8908542" y="3410712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3640" y="3505810"/>
            <a:ext cx="175565" cy="175565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8908542" y="3867912"/>
            <a:ext cx="21739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Holdings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8908542" y="4178808"/>
            <a:ext cx="2173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&amp; stock allocation</a:t>
            </a:r>
            <a:endParaRPr lang="en-US" sz="950" dirty="0"/>
          </a:p>
        </p:txBody>
      </p:sp>
      <p:sp>
        <p:nvSpPr>
          <p:cNvPr id="44" name="Shape 34"/>
          <p:cNvSpPr/>
          <p:nvPr/>
        </p:nvSpPr>
        <p:spPr>
          <a:xfrm>
            <a:off x="548640" y="5257800"/>
            <a:ext cx="11091672" cy="713232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45" name="Text 35"/>
          <p:cNvSpPr/>
          <p:nvPr/>
        </p:nvSpPr>
        <p:spPr>
          <a:xfrm>
            <a:off x="822960" y="525780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 ·   Pandas   ·   NumPy   ·   Matplotlib   ·   Plotly   ·   SciPy   ·   SQLite   ·   Power BI   ·   Git &amp; GitHub</a:t>
            </a:r>
            <a:endParaRPr lang="en-US" sz="1200" dirty="0"/>
          </a:p>
        </p:txBody>
      </p:sp>
      <p:sp>
        <p:nvSpPr>
          <p:cNvPr id="46" name="Text 36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 Capstone</a:t>
            </a:r>
            <a:endParaRPr lang="en-US" sz="900" dirty="0"/>
          </a:p>
        </p:txBody>
      </p:sp>
      <p:sp>
        <p:nvSpPr>
          <p:cNvPr id="47" name="Text 37"/>
          <p:cNvSpPr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1874520" cy="182880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93292" y="256032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5448" y="2712476"/>
            <a:ext cx="280904" cy="280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246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" y="36576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Scheme, NAV, SIP &amp; transaction files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 rot="5400000">
            <a:off x="2537460" y="3145536"/>
            <a:ext cx="201168" cy="201168"/>
          </a:xfrm>
          <a:prstGeom prst="triangle">
            <a:avLst/>
          </a:prstGeom>
          <a:solidFill>
            <a:srgbClr val="C9A24B"/>
          </a:solidFill>
          <a:ln/>
        </p:spPr>
      </p:sp>
      <p:sp>
        <p:nvSpPr>
          <p:cNvPr id="10" name="Shape 7"/>
          <p:cNvSpPr/>
          <p:nvPr/>
        </p:nvSpPr>
        <p:spPr>
          <a:xfrm>
            <a:off x="2852928" y="2331720"/>
            <a:ext cx="1874520" cy="182880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97580" y="256032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9736" y="2712476"/>
            <a:ext cx="280904" cy="2809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44368" y="3246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ETL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944368" y="36576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dedupe, standardize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 rot="5400000">
            <a:off x="4841748" y="3145536"/>
            <a:ext cx="201168" cy="201168"/>
          </a:xfrm>
          <a:prstGeom prst="triangle">
            <a:avLst/>
          </a:prstGeom>
          <a:solidFill>
            <a:srgbClr val="C9A24B"/>
          </a:solidFill>
          <a:ln/>
        </p:spPr>
      </p:sp>
      <p:sp>
        <p:nvSpPr>
          <p:cNvPr id="16" name="Shape 12"/>
          <p:cNvSpPr/>
          <p:nvPr/>
        </p:nvSpPr>
        <p:spPr>
          <a:xfrm>
            <a:off x="5157216" y="2331720"/>
            <a:ext cx="1874520" cy="182880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801868" y="256032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4024" y="2712476"/>
            <a:ext cx="280904" cy="2809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48656" y="3246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Data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248656" y="36576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Analysis-ready datasets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 rot="5400000">
            <a:off x="7146036" y="3145536"/>
            <a:ext cx="201168" cy="201168"/>
          </a:xfrm>
          <a:prstGeom prst="triangle">
            <a:avLst/>
          </a:prstGeom>
          <a:solidFill>
            <a:srgbClr val="C9A24B"/>
          </a:solidFill>
          <a:ln/>
        </p:spPr>
      </p:sp>
      <p:sp>
        <p:nvSpPr>
          <p:cNvPr id="22" name="Shape 17"/>
          <p:cNvSpPr/>
          <p:nvPr/>
        </p:nvSpPr>
        <p:spPr>
          <a:xfrm>
            <a:off x="7461504" y="2331720"/>
            <a:ext cx="1874520" cy="182880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106156" y="256032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8312" y="2712476"/>
            <a:ext cx="280904" cy="28090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552944" y="3246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7552944" y="36576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performance metrics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 rot="5400000">
            <a:off x="9450324" y="3145536"/>
            <a:ext cx="201168" cy="201168"/>
          </a:xfrm>
          <a:prstGeom prst="triangle">
            <a:avLst/>
          </a:prstGeom>
          <a:solidFill>
            <a:srgbClr val="C9A24B"/>
          </a:solidFill>
          <a:ln/>
        </p:spPr>
      </p:sp>
      <p:sp>
        <p:nvSpPr>
          <p:cNvPr id="28" name="Shape 22"/>
          <p:cNvSpPr/>
          <p:nvPr/>
        </p:nvSpPr>
        <p:spPr>
          <a:xfrm>
            <a:off x="9765792" y="2331720"/>
            <a:ext cx="1874520" cy="1828800"/>
          </a:xfrm>
          <a:prstGeom prst="rect">
            <a:avLst/>
          </a:prstGeom>
          <a:solidFill>
            <a:srgbClr val="13294B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410444" y="2560320"/>
            <a:ext cx="585216" cy="585216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2600" y="2712476"/>
            <a:ext cx="280904" cy="28090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857232" y="3246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9857232" y="36576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insights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548640" y="47548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quality controls: 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missing-value handling   ·   duplicate removal   ·   column standardization   ·   datetime conversion   ·   derived metric calculation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 Capstone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Growth: NAV &amp; AUM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Trend — Benchmark Scheme (2022–2026)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74520"/>
          <a:ext cx="539496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217920" y="1554480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Growth by Fund House (₹ Lakh Crore)</a:t>
            </a:r>
            <a:endParaRPr lang="en-US" sz="12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17920" y="1874520"/>
          <a:ext cx="5422392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4343400"/>
            <a:ext cx="11091672" cy="169164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9" name="Shape 5"/>
          <p:cNvSpPr/>
          <p:nvPr/>
        </p:nvSpPr>
        <p:spPr>
          <a:xfrm>
            <a:off x="822960" y="45720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690872"/>
            <a:ext cx="219456" cy="219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4617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822960" y="502920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AUM rose consistently from 2022 to 2025, reflecting growing investor confidence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Mutual Fund retained the highest AUM throughout the period, ahead of ICICI Prudential and HDFC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growth remained positive long-term despite short-term 2024 corrections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 Capstone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Investor Demographics &amp; Category Preference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Age Distribution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74520"/>
          <a:ext cx="36576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343400" y="1554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Split (Investors)</a:t>
            </a:r>
            <a:endParaRPr lang="en-US" sz="12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4343400" y="1874520"/>
          <a:ext cx="32918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7818120" y="1554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Categories by Net Inflow (₹ Cr)</a:t>
            </a:r>
            <a:endParaRPr lang="en-US" sz="1200" dirty="0"/>
          </a:p>
        </p:txBody>
      </p:sp>
      <p:graphicFrame>
        <p:nvGraphicFramePr>
          <p:cNvPr id="9" name="Chart 2" descr=""/>
          <p:cNvGraphicFramePr/>
          <p:nvPr/>
        </p:nvGraphicFramePr>
        <p:xfrm>
          <a:off x="7818120" y="1874520"/>
          <a:ext cx="384048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Shape 5"/>
          <p:cNvSpPr/>
          <p:nvPr/>
        </p:nvSpPr>
        <p:spPr>
          <a:xfrm>
            <a:off x="548640" y="4709160"/>
            <a:ext cx="11091672" cy="13716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11" name="Shape 6"/>
          <p:cNvSpPr/>
          <p:nvPr/>
        </p:nvSpPr>
        <p:spPr>
          <a:xfrm>
            <a:off x="822960" y="4892040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5010912"/>
            <a:ext cx="219456" cy="2194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17320" y="48463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aged 26–35 form the largest segment (41%) and male investors currently dominate participation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Funds attracted the highest inflows, followed by Sectoral/Thematic and Large &amp; Mid Cap funds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 Capstone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Risk-Adjusted Performance Metrics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Funds by Fund Score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74520"/>
          <a:ext cx="54864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355080" y="1554480"/>
            <a:ext cx="5285232" cy="315468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629400" y="17830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1901952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223760" y="1828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Calculated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629400" y="233172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Returns &amp; CAGR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 &amp; Sortino Ratio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&amp; Beta vs. Benchmark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Drawdown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Fund Score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4937760"/>
            <a:ext cx="11091672" cy="11430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12" name="Shape 8"/>
          <p:cNvSpPr/>
          <p:nvPr/>
        </p:nvSpPr>
        <p:spPr>
          <a:xfrm>
            <a:off x="822960" y="5120640"/>
            <a:ext cx="411480" cy="41148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945" y="5227625"/>
            <a:ext cx="197510" cy="1975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4937760"/>
            <a:ext cx="10058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metrics enabled objective, like-for-like comparison of mutual fund schemes — beyond raw returns alone.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 Capstone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Modelling &amp; Behavioural Insights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Rolling Sharpe Ratio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74520"/>
          <a:ext cx="5486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355080" y="1554480"/>
            <a:ext cx="5285232" cy="310896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629400" y="17830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1901952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223760" y="1828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Techniques Applied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629400" y="228600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VaR (95% confidence)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VaR (CVaR / Expected Shortfall)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Cohort Analysis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Continuity ("At Risk" flagging)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Concentration (HHI)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Fund Recommendation Engine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4846320"/>
            <a:ext cx="11091672" cy="118872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2" name="Shape 8"/>
          <p:cNvSpPr/>
          <p:nvPr/>
        </p:nvSpPr>
        <p:spPr>
          <a:xfrm>
            <a:off x="822960" y="5029200"/>
            <a:ext cx="411480" cy="4114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945" y="5136185"/>
            <a:ext cx="197510" cy="1975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48463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ratios rose in strong markets and fell during corrections — confirming the value of continuous, rolling risk monitoring over a single static metric.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 Capstone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Overview &amp; Fund Performance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96012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276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Folios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37560" y="1554480"/>
            <a:ext cx="2606040" cy="96012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6276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337560" y="21488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Schemes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554480"/>
            <a:ext cx="2606040" cy="96012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6276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940K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126480" y="21488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SIP Inflows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15400" y="1554480"/>
            <a:ext cx="2606040" cy="96012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16276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₹12.50 LCr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915400" y="21488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AUM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7432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AUM Trend (2022–2025)</a:t>
            </a:r>
            <a:endParaRPr lang="en-US" sz="12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548640" y="3063240"/>
          <a:ext cx="539496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6217920" y="2743200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 vs AUM (₹ Lakh Crore)</a:t>
            </a:r>
            <a:endParaRPr lang="en-US" sz="1200" dirty="0"/>
          </a:p>
        </p:txBody>
      </p:sp>
      <p:graphicFrame>
        <p:nvGraphicFramePr>
          <p:cNvPr id="19" name="Chart 1" descr=""/>
          <p:cNvGraphicFramePr/>
          <p:nvPr/>
        </p:nvGraphicFramePr>
        <p:xfrm>
          <a:off x="6217920" y="3063240"/>
          <a:ext cx="5422392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Shape 16"/>
          <p:cNvSpPr/>
          <p:nvPr/>
        </p:nvSpPr>
        <p:spPr>
          <a:xfrm>
            <a:off x="548640" y="5349240"/>
            <a:ext cx="11091672" cy="77724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1" name="Text 17"/>
          <p:cNvSpPr/>
          <p:nvPr/>
        </p:nvSpPr>
        <p:spPr>
          <a:xfrm>
            <a:off x="822960" y="5349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features: Industry KPI cards · AUM trend · Risk vs Return scatter · Fund scorecard · Interactive slicers by fund house, category &amp; plan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 Capstone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Investor Analytics &amp; Market Trends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Type Distribution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74520"/>
          <a:ext cx="35661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251960" y="1554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Investment by Age Group</a:t>
            </a:r>
            <a:endParaRPr lang="en-US" sz="12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4251960" y="1874520"/>
          <a:ext cx="35661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7955280" y="15544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SIP Inflows vs Growth</a:t>
            </a:r>
            <a:endParaRPr lang="en-US" sz="1200" dirty="0"/>
          </a:p>
        </p:txBody>
      </p:sp>
      <p:graphicFrame>
        <p:nvGraphicFramePr>
          <p:cNvPr id="9" name="Chart 2" descr=""/>
          <p:cNvGraphicFramePr/>
          <p:nvPr/>
        </p:nvGraphicFramePr>
        <p:xfrm>
          <a:off x="7955280" y="1874520"/>
          <a:ext cx="37033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Shape 5"/>
          <p:cNvSpPr/>
          <p:nvPr/>
        </p:nvSpPr>
        <p:spPr>
          <a:xfrm>
            <a:off x="548640" y="4709160"/>
            <a:ext cx="11091672" cy="13716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11" name="Shape 6"/>
          <p:cNvSpPr/>
          <p:nvPr/>
        </p:nvSpPr>
        <p:spPr>
          <a:xfrm>
            <a:off x="822960" y="4892040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5010912"/>
            <a:ext cx="219456" cy="2194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17320" y="48463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State-wise investment, city-tier, and age-group filters let analysts segment investor behaviour in real time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contributions remained the dominant transaction type, reinforcing the shift toward disciplined investing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 Capstone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&amp;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48056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19595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745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514600"/>
            <a:ext cx="4800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AUM grew steadily, 2022–2025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inflows reached record highs by late 2025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Mutual Fund led the market in AUM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aged 26–35 dominated participation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metrics sharpened fund evaluation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17920" y="1554480"/>
            <a:ext cx="5422392" cy="4480560"/>
          </a:xfrm>
          <a:prstGeom prst="rect">
            <a:avLst/>
          </a:prstGeom>
          <a:solidFill>
            <a:srgbClr val="13294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828800"/>
            <a:ext cx="502920" cy="50292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719" y="195955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8745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37960" y="2514600"/>
            <a:ext cx="4800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SIPs to deepen long-term investor retention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diversification to lower concentration risk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VaR/CVaR to flag downside exposure early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Operationalize the dashboard for routine decision-making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 Capstone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943600" cy="5943600"/>
          </a:xfrm>
          <a:prstGeom prst="ellipse">
            <a:avLst/>
          </a:prstGeom>
          <a:solidFill>
            <a:srgbClr val="1E3A5F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03120" y="4389120"/>
            <a:ext cx="5029200" cy="5029200"/>
          </a:xfrm>
          <a:prstGeom prst="ellipse">
            <a:avLst/>
          </a:prstGeom>
          <a:solidFill>
            <a:srgbClr val="1E3A5F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94360"/>
            <a:ext cx="594360" cy="59436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614" y="74889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640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" y="13716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complete, decision-ready analytics solution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94360" y="2468880"/>
            <a:ext cx="2606040" cy="2286000"/>
          </a:xfrm>
          <a:prstGeom prst="rect">
            <a:avLst/>
          </a:prstGeom>
          <a:solidFill>
            <a:srgbClr val="1E3A5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758952" y="265176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58952" y="3200400"/>
            <a:ext cx="22768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ETL, EDA, performance and advanced analytics built entirely in Python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83280" y="2468880"/>
            <a:ext cx="2606040" cy="2286000"/>
          </a:xfrm>
          <a:prstGeom prst="rect">
            <a:avLst/>
          </a:prstGeom>
          <a:solidFill>
            <a:srgbClr val="1E3A5F">
              <a:alpha val="8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3547872" y="265176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Risk-aware evaluation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547872" y="3200400"/>
            <a:ext cx="22768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CAGR, Sharpe, Sortino, VaR &amp; CVaR replace return-only comparisons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72200" y="2468880"/>
            <a:ext cx="2606040" cy="2286000"/>
          </a:xfrm>
          <a:prstGeom prst="rect">
            <a:avLst/>
          </a:prstGeom>
          <a:solidFill>
            <a:srgbClr val="1E3A5F">
              <a:alpha val="8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6336792" y="265176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BI layer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336792" y="3200400"/>
            <a:ext cx="22768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4-page Power BI dashboard consolidates industry, fund &amp; investor views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961120" y="2468880"/>
            <a:ext cx="2606040" cy="2286000"/>
          </a:xfrm>
          <a:prstGeom prst="rect">
            <a:avLst/>
          </a:prstGeom>
          <a:solidFill>
            <a:srgbClr val="1E3A5F">
              <a:alpha val="8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9125712" y="265176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Actionable outcomes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125712" y="3200400"/>
            <a:ext cx="22768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concrete recommendations for investors, AMCs &amp; fund managers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94360" y="5074920"/>
            <a:ext cx="109728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5303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594360" y="5897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Mutual Fund Analytics Capstone</dc:title>
  <dc:subject>PptxGenJS Presentation</dc:subject>
  <dc:creator>Ritika Prakash</dc:creator>
  <cp:lastModifiedBy>Ritika Prakash</cp:lastModifiedBy>
  <cp:revision>1</cp:revision>
  <dcterms:created xsi:type="dcterms:W3CDTF">2026-06-22T18:55:43Z</dcterms:created>
  <dcterms:modified xsi:type="dcterms:W3CDTF">2026-06-22T18:55:43Z</dcterms:modified>
</cp:coreProperties>
</file>